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30275213" cy="42803763"/>
  <p:notesSz cx="6858000" cy="9144000"/>
  <p:defaultTextStyle>
    <a:defPPr>
      <a:defRPr lang="ko-KR"/>
    </a:defPPr>
    <a:lvl1pPr marL="0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1pPr>
    <a:lvl2pPr marL="2085433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2pPr>
    <a:lvl3pPr marL="4170874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3pPr>
    <a:lvl4pPr marL="6256306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4pPr>
    <a:lvl5pPr marL="8341743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5pPr>
    <a:lvl6pPr marL="10427189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6pPr>
    <a:lvl7pPr marL="12512622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7pPr>
    <a:lvl8pPr marL="14598050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8pPr>
    <a:lvl9pPr marL="16683495" algn="l" defTabSz="4170874" rtl="0">
      <a:defRPr sz="74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50" d="100"/>
          <a:sy n="50" d="100"/>
        </p:scale>
        <p:origin x="-54" y="36"/>
      </p:cViewPr>
      <p:guideLst>
        <p:guide pos="13482" orient="horz"/>
        <p:guide pos="95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889425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2146932207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3AF2EBF-8FF1-40DD-B8CB-C814F09E13BD}" type="datetimeFigureOut">
              <a:rPr lang="ko-KR"/>
              <a:t>2025-11-21</a:t>
            </a:fld>
            <a:endParaRPr lang="ko-KR"/>
          </a:p>
        </p:txBody>
      </p:sp>
      <p:sp>
        <p:nvSpPr>
          <p:cNvPr id="690603339" name="슬라이드 이미지 개체 틀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ko-KR"/>
          </a:p>
        </p:txBody>
      </p:sp>
      <p:sp>
        <p:nvSpPr>
          <p:cNvPr id="122622878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1537569124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2046201609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7FDB19-33E6-4597-90BE-2A10B022B088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78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341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08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F2D6E-5290-C139-2909-FBD4A8D3EF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377300" name="제목 1"/>
          <p:cNvSpPr>
            <a:spLocks noGrp="1"/>
          </p:cNvSpPr>
          <p:nvPr>
            <p:ph type="ctrTitle"/>
          </p:nvPr>
        </p:nvSpPr>
        <p:spPr bwMode="auto">
          <a:xfrm>
            <a:off x="2270643" y="13296922"/>
            <a:ext cx="25733935" cy="9175064"/>
          </a:xfrm>
          <a:prstGeom prst="rect">
            <a:avLst/>
          </a:prstGeom>
        </p:spPr>
        <p:txBody>
          <a:bodyPr lIns="83936" tIns="41967" rIns="83936" bIns="41967"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570392885" name="부제목 2"/>
          <p:cNvSpPr>
            <a:spLocks noGrp="1"/>
          </p:cNvSpPr>
          <p:nvPr>
            <p:ph type="subTitle" idx="1"/>
          </p:nvPr>
        </p:nvSpPr>
        <p:spPr bwMode="auto">
          <a:xfrm>
            <a:off x="4541286" y="24255472"/>
            <a:ext cx="21192649" cy="10938738"/>
          </a:xfrm>
          <a:prstGeom prst="rect">
            <a:avLst/>
          </a:prstGeom>
        </p:spPr>
        <p:txBody>
          <a:bodyPr lIns="83936" tIns="41967" rIns="83936" bIns="41967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6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5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3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1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0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487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27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ko-KR"/>
              <a:t>마스터 부제목 스타일 편집</a:t>
            </a:r>
            <a:endParaRPr/>
          </a:p>
        </p:txBody>
      </p:sp>
      <p:sp>
        <p:nvSpPr>
          <p:cNvPr id="60433243" name="날짜 개체 틀 3"/>
          <p:cNvSpPr>
            <a:spLocks noGrp="1"/>
          </p:cNvSpPr>
          <p:nvPr>
            <p:ph type="dt" sz="half" idx="10"/>
          </p:nvPr>
        </p:nvSpPr>
        <p:spPr bwMode="auto">
          <a:xfrm>
            <a:off x="1513774" y="39672765"/>
            <a:ext cx="7064216" cy="2278905"/>
          </a:xfrm>
          <a:prstGeom prst="rect">
            <a:avLst/>
          </a:prstGeom>
        </p:spPr>
        <p:txBody>
          <a:bodyPr lIns="83936" tIns="41967" rIns="83936" bIns="41967"/>
          <a:lstStyle/>
          <a:p>
            <a:pPr>
              <a:defRPr/>
            </a:pPr>
            <a:fld id="{B97A18B4-7299-4267-86DD-AEA5FF0EDE62}" type="datetimeFigureOut">
              <a:rPr lang="ko-KR"/>
              <a:t>2025-11-21</a:t>
            </a:fld>
            <a:endParaRPr lang="ko-KR"/>
          </a:p>
        </p:txBody>
      </p:sp>
      <p:sp>
        <p:nvSpPr>
          <p:cNvPr id="2037838978" name="바닥글 개체 틀 4"/>
          <p:cNvSpPr>
            <a:spLocks noGrp="1"/>
          </p:cNvSpPr>
          <p:nvPr>
            <p:ph type="ftr" sz="quarter" idx="11"/>
          </p:nvPr>
        </p:nvSpPr>
        <p:spPr bwMode="auto">
          <a:xfrm>
            <a:off x="10344040" y="39672765"/>
            <a:ext cx="9587151" cy="2278905"/>
          </a:xfrm>
          <a:prstGeom prst="rect">
            <a:avLst/>
          </a:prstGeom>
        </p:spPr>
        <p:txBody>
          <a:bodyPr lIns="83936" tIns="41967" rIns="83936" bIns="41967"/>
          <a:lstStyle/>
          <a:p>
            <a:pPr>
              <a:defRPr/>
            </a:pPr>
            <a:endParaRPr lang="ko-KR"/>
          </a:p>
        </p:txBody>
      </p:sp>
      <p:sp>
        <p:nvSpPr>
          <p:cNvPr id="1043034612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xfrm>
            <a:off x="21697245" y="39672765"/>
            <a:ext cx="7064216" cy="2278905"/>
          </a:xfrm>
          <a:prstGeom prst="rect">
            <a:avLst/>
          </a:prstGeom>
        </p:spPr>
        <p:txBody>
          <a:bodyPr lIns="83936" tIns="41967" rIns="83936" bIns="41967"/>
          <a:lstStyle/>
          <a:p>
            <a:pPr>
              <a:defRPr/>
            </a:pPr>
            <a:fld id="{61FD3256-0DFA-4CBE-8B7A-380D525D5D5E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105172" name="그림 2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-1" y="0"/>
            <a:ext cx="30275214" cy="428037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56798" rtl="0">
        <a:spcBef>
          <a:spcPts val="0"/>
        </a:spcBef>
        <a:buNone/>
        <a:defRPr sz="45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8799" indent="-358799" algn="l" defTabSz="956798" rtl="0">
        <a:spcBef>
          <a:spcPts val="0"/>
        </a:spcBef>
        <a:buFont typeface="Arial"/>
        <a:buChar char="•"/>
        <a:defRPr sz="3300">
          <a:solidFill>
            <a:schemeClr val="tx1"/>
          </a:solidFill>
          <a:latin typeface="+mn-lt"/>
          <a:ea typeface="+mn-ea"/>
          <a:cs typeface="+mn-cs"/>
        </a:defRPr>
      </a:lvl1pPr>
      <a:lvl2pPr marL="777397" indent="-298999" algn="l" defTabSz="956798" rtl="0">
        <a:spcBef>
          <a:spcPts val="0"/>
        </a:spcBef>
        <a:buFont typeface="Arial"/>
        <a:buChar char="–"/>
        <a:defRPr sz="2900">
          <a:solidFill>
            <a:schemeClr val="tx1"/>
          </a:solidFill>
          <a:latin typeface="+mn-lt"/>
          <a:ea typeface="+mn-ea"/>
          <a:cs typeface="+mn-cs"/>
        </a:defRPr>
      </a:lvl2pPr>
      <a:lvl3pPr marL="1195998" indent="-239200" algn="l" defTabSz="956798" rtl="0">
        <a:spcBef>
          <a:spcPts val="0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3pPr>
      <a:lvl4pPr marL="1674398" indent="-239200" algn="l" defTabSz="956798" rtl="0">
        <a:spcBef>
          <a:spcPts val="0"/>
        </a:spcBef>
        <a:buFont typeface="Arial"/>
        <a:buChar char="–"/>
        <a:defRPr sz="2100">
          <a:solidFill>
            <a:schemeClr val="tx1"/>
          </a:solidFill>
          <a:latin typeface="+mn-lt"/>
          <a:ea typeface="+mn-ea"/>
          <a:cs typeface="+mn-cs"/>
        </a:defRPr>
      </a:lvl4pPr>
      <a:lvl5pPr marL="2152796" indent="-239200" algn="l" defTabSz="956798" rtl="0">
        <a:spcBef>
          <a:spcPts val="0"/>
        </a:spcBef>
        <a:buFont typeface="Arial"/>
        <a:buChar char="»"/>
        <a:defRPr sz="2100">
          <a:solidFill>
            <a:schemeClr val="tx1"/>
          </a:solidFill>
          <a:latin typeface="+mn-lt"/>
          <a:ea typeface="+mn-ea"/>
          <a:cs typeface="+mn-cs"/>
        </a:defRPr>
      </a:lvl5pPr>
      <a:lvl6pPr marL="2631194" indent="-239200" algn="l" defTabSz="956798" rtl="0">
        <a:spcBef>
          <a:spcPts val="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6pPr>
      <a:lvl7pPr marL="3109593" indent="-239200" algn="l" defTabSz="956798" rtl="0">
        <a:spcBef>
          <a:spcPts val="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7pPr>
      <a:lvl8pPr marL="3587992" indent="-239200" algn="l" defTabSz="956798" rtl="0">
        <a:spcBef>
          <a:spcPts val="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8pPr>
      <a:lvl9pPr marL="4066392" indent="-239200" algn="l" defTabSz="956798" rtl="0">
        <a:spcBef>
          <a:spcPts val="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478398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2pPr>
      <a:lvl3pPr marL="956798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3pPr>
      <a:lvl4pPr marL="1435196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4pPr>
      <a:lvl5pPr marL="1913595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5pPr>
      <a:lvl6pPr marL="2391996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6pPr>
      <a:lvl7pPr marL="2870394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7pPr>
      <a:lvl8pPr marL="3348791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8pPr>
      <a:lvl9pPr marL="3827192" algn="l" defTabSz="956798" rtl="0">
        <a:defRPr sz="1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Relationship Id="rId6" Type="http://schemas.openxmlformats.org/officeDocument/2006/relationships/image" Target="../media/media2.svg"/><Relationship Id="rId7" Type="http://schemas.openxmlformats.org/officeDocument/2006/relationships/image" Target="../media/image4.png"/><Relationship Id="rId8" Type="http://schemas.openxmlformats.org/officeDocument/2006/relationships/image" Target="../media/media3.svg"/><Relationship Id="rId9" Type="http://schemas.openxmlformats.org/officeDocument/2006/relationships/image" Target="../media/image5.png"/><Relationship Id="rId10" Type="http://schemas.openxmlformats.org/officeDocument/2006/relationships/image" Target="../media/media4.svg"/><Relationship Id="rId11" Type="http://schemas.openxmlformats.org/officeDocument/2006/relationships/image" Target="../media/image6.png"/><Relationship Id="rId12" Type="http://schemas.openxmlformats.org/officeDocument/2006/relationships/image" Target="../media/media5.svg"/><Relationship Id="rId13" Type="http://schemas.openxmlformats.org/officeDocument/2006/relationships/image" Target="../media/image7.png"/><Relationship Id="rId14" Type="http://schemas.openxmlformats.org/officeDocument/2006/relationships/image" Target="../media/media6.sv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Relationship Id="rId18" Type="http://schemas.openxmlformats.org/officeDocument/2006/relationships/image" Target="../media/image11.pn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928067" name="TextBox 4"/>
          <p:cNvSpPr txBox="1"/>
          <p:nvPr/>
        </p:nvSpPr>
        <p:spPr bwMode="auto">
          <a:xfrm flipH="0" flipV="0">
            <a:off x="21755099" y="9000331"/>
            <a:ext cx="6575489" cy="703369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1. 듀얼 모드 지원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Real Mode (16-bit): 6개 게스트 프로그램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Protected Mode (32-bit): GDT/IDT, 4MB 페이징, 1K OS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2. Multi-vCPU 병렬 실행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최대 4개 vCPU 동시 실행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pthread 기반 멀티스레딩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색상 코딩 출력으로 병렬성 시각화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</p:txBody>
      </p:sp>
      <p:sp>
        <p:nvSpPr>
          <p:cNvPr id="1303336890" name="TextBox 6"/>
          <p:cNvSpPr txBox="1"/>
          <p:nvPr/>
        </p:nvSpPr>
        <p:spPr bwMode="auto">
          <a:xfrm flipH="0" flipV="0">
            <a:off x="2526582" y="8564177"/>
            <a:ext cx="12353877" cy="9929291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기술적 도전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기존 하이퍼바이저(QEMU)는 100만 줄 이상의 방대한 코드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하이퍼바이저의 본질적인 기능을 최소한의 코드로 구현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Linux KVM API와 x86 가상화를 완전히 이해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핵심 성과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- 1,500줄의 C 코드로 완전한 기능의 x86 하이퍼바이저 구현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QEMU 대비 1/300 코드 크기로 동등한 기능성 달성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Real Mode + Protected Mode 동시 지원하는 듀얼 모드 아키텍처 설계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기술적 목표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x86 가상화의 핵심을 처음부터 끝까지 구현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네이티브급 성능을 유지하면서 극한의 경량화 달성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멀티 vCPU 병렬 실행의 기술적 복잡성을 해결</a:t>
            </a:r>
            <a:endParaRPr lang="ko-KR" sz="380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</a:endParaRPr>
          </a:p>
        </p:txBody>
      </p:sp>
      <p:sp>
        <p:nvSpPr>
          <p:cNvPr id="1193122062" name="TextBox 3"/>
          <p:cNvSpPr txBox="1"/>
          <p:nvPr/>
        </p:nvSpPr>
        <p:spPr bwMode="auto">
          <a:xfrm>
            <a:off x="1726305" y="1320299"/>
            <a:ext cx="21335779" cy="3741853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pPr>
              <a:defRPr/>
            </a:pPr>
            <a:r>
              <a:rPr lang="ko-KR" sz="12000" b="0" i="0" u="none" strike="noStrike" cap="none" spc="0">
                <a:solidFill>
                  <a:schemeClr val="bg1"/>
                </a:solidFill>
                <a:latin typeface="G마켓 산스 TTF Bold"/>
                <a:ea typeface="G마켓 산스 TTF Bold"/>
                <a:cs typeface="G마켓 산스 TTF Bold"/>
              </a:rPr>
              <a:t>Mini-KVM:</a:t>
            </a:r>
            <a:endParaRPr sz="12000" b="0" i="0" u="none" strike="noStrike" cap="none" spc="0">
              <a:solidFill>
                <a:schemeClr val="bg1"/>
              </a:solidFill>
              <a:latin typeface="G마켓 산스 TTF Bold"/>
              <a:ea typeface="G마켓 산스 TTF Bold"/>
              <a:cs typeface="G마켓 산스 TTF Bold"/>
            </a:endParaRPr>
          </a:p>
          <a:p>
            <a:pPr>
              <a:defRPr/>
            </a:pPr>
            <a:r>
              <a:rPr lang="ko-KR" sz="12000" b="0" i="0" u="none" strike="noStrike" cap="none" spc="0">
                <a:solidFill>
                  <a:schemeClr val="bg1"/>
                </a:solidFill>
                <a:latin typeface="G마켓 산스 TTF Bold"/>
                <a:ea typeface="G마켓 산스 TTF Bold"/>
                <a:cs typeface="G마켓 산스 TTF Bold"/>
              </a:rPr>
              <a:t>교육용 x86 하이퍼바이저</a:t>
            </a:r>
            <a:endParaRPr sz="12000">
              <a:solidFill>
                <a:schemeClr val="bg1"/>
              </a:solidFill>
              <a:latin typeface="G마켓 산스 TTF Bold"/>
              <a:ea typeface="G마켓 산스 TTF Bold"/>
            </a:endParaRPr>
          </a:p>
        </p:txBody>
      </p:sp>
      <p:sp>
        <p:nvSpPr>
          <p:cNvPr id="1738142315" name="TextBox 24"/>
          <p:cNvSpPr txBox="1"/>
          <p:nvPr/>
        </p:nvSpPr>
        <p:spPr bwMode="auto">
          <a:xfrm>
            <a:off x="15911730" y="39166439"/>
            <a:ext cx="10003236" cy="663373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pPr>
              <a:defRPr/>
            </a:pPr>
            <a:r>
              <a:rPr lang="en-US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github.com/seolcu/mini-kvm</a:t>
            </a:r>
            <a:endParaRPr lang="ko-KR" sz="380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</a:endParaRPr>
          </a:p>
        </p:txBody>
      </p:sp>
      <p:sp>
        <p:nvSpPr>
          <p:cNvPr id="255918679" name="모서리가 둥근 직사각형 2"/>
          <p:cNvSpPr/>
          <p:nvPr/>
        </p:nvSpPr>
        <p:spPr bwMode="auto">
          <a:xfrm>
            <a:off x="25218726" y="37574459"/>
            <a:ext cx="2529901" cy="2554855"/>
          </a:xfrm>
          <a:prstGeom prst="roundRect">
            <a:avLst>
              <a:gd name="adj" fmla="val 192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spcCol="0" rtlCol="0" anchor="ctr"/>
          <a:lstStyle/>
          <a:p>
            <a:pPr algn="ctr">
              <a:defRPr/>
            </a:pPr>
            <a:r>
              <a:rPr lang="en-US" sz="2800">
                <a:solidFill>
                  <a:schemeClr val="tx1"/>
                </a:solidFill>
                <a:latin typeface="G마켓 산스 Medium"/>
                <a:ea typeface="G마켓 산스 Medium"/>
              </a:rPr>
              <a:t>QR</a:t>
            </a:r>
            <a:r>
              <a:rPr lang="ko-KR" sz="2800">
                <a:solidFill>
                  <a:schemeClr val="tx1"/>
                </a:solidFill>
                <a:latin typeface="G마켓 산스 Medium"/>
                <a:ea typeface="G마켓 산스 Medium"/>
              </a:rPr>
              <a:t>코드</a:t>
            </a:r>
            <a:br>
              <a:rPr lang="en-US" sz="2800">
                <a:solidFill>
                  <a:schemeClr val="tx1"/>
                </a:solidFill>
                <a:latin typeface="G마켓 산스 Medium"/>
                <a:ea typeface="G마켓 산스 Medium"/>
              </a:rPr>
            </a:br>
            <a:r>
              <a:rPr lang="ko-KR" sz="2800">
                <a:solidFill>
                  <a:schemeClr val="tx1"/>
                </a:solidFill>
                <a:latin typeface="G마켓 산스 Medium"/>
                <a:ea typeface="G마켓 산스 Medium"/>
              </a:rPr>
              <a:t>입력 부분</a:t>
            </a:r>
            <a:br>
              <a:rPr lang="en-US" sz="2800">
                <a:solidFill>
                  <a:schemeClr val="tx1"/>
                </a:solidFill>
                <a:latin typeface="G마켓 산스 Medium"/>
                <a:ea typeface="G마켓 산스 Medium"/>
              </a:rPr>
            </a:br>
            <a:r>
              <a:rPr lang="ko-KR" sz="2800">
                <a:solidFill>
                  <a:schemeClr val="tx1"/>
                </a:solidFill>
                <a:latin typeface="G마켓 산스 Medium"/>
                <a:ea typeface="G마켓 산스 Medium"/>
              </a:rPr>
              <a:t>입니다</a:t>
            </a:r>
            <a:r>
              <a:rPr lang="en-US" sz="2800">
                <a:solidFill>
                  <a:schemeClr val="tx1"/>
                </a:solidFill>
                <a:latin typeface="G마켓 산스 Medium"/>
                <a:ea typeface="G마켓 산스 Medium"/>
              </a:rPr>
              <a:t>.</a:t>
            </a:r>
            <a:endParaRPr lang="ko-KR" sz="2800">
              <a:solidFill>
                <a:schemeClr val="tx1"/>
              </a:solidFill>
              <a:latin typeface="G마켓 산스 Medium"/>
              <a:ea typeface="G마켓 산스 Medium"/>
            </a:endParaRPr>
          </a:p>
        </p:txBody>
      </p:sp>
      <p:sp>
        <p:nvSpPr>
          <p:cNvPr id="1662568178" name="TextBox 51"/>
          <p:cNvSpPr txBox="1"/>
          <p:nvPr/>
        </p:nvSpPr>
        <p:spPr bwMode="auto">
          <a:xfrm flipH="0" flipV="0">
            <a:off x="15866352" y="26486924"/>
            <a:ext cx="12683506" cy="1050841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경량화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QEMU 대비 1/300 코드 크기 (1,500 vs 100K+ LOC)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- 30배 적은 메모리 사용 (1.5 MB vs 50 MB)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- 10배 빠른 VM 초기화 (5ms vs 50ms)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네이티브급 성능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가상화 오버헤드 &lt; 2%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QEMU TCG 대비 50-100배 빠른 실행 속도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VM Exit당 0.02ms의 낮은 지연시간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뛰어난 확장성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- 2 vCPU: 95% 병렬 효율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- 4 vCPU: 90% 병렬 효율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거의 선형적인 성능 확장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최적화 성과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조건부 IRQCHIP으로 Real Mode 성능 10배 향상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불필요한 인터럽트 제거로 즉시 실행/종료</a:t>
            </a:r>
            <a:endParaRPr lang="ko-KR" sz="380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</a:endParaRPr>
          </a:p>
        </p:txBody>
      </p:sp>
      <p:sp>
        <p:nvSpPr>
          <p:cNvPr id="941926362" name="TextBox 52"/>
          <p:cNvSpPr txBox="1"/>
          <p:nvPr/>
        </p:nvSpPr>
        <p:spPr bwMode="auto">
          <a:xfrm flipH="0" flipV="0">
            <a:off x="2367832" y="22600703"/>
            <a:ext cx="13339768" cy="297985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Multi-vCPU 병렬 실행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- 4개 게스트를 동시에 실행하는 실시간 시연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각 vCPU별 색상 구분 (Magenta/Green/Yellow/Blue)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실제 </a:t>
            </a:r>
            <a:r>
              <a:rPr lang="en-US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P</a:t>
            </a: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arallelism</a:t>
            </a: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을 눈으로 확인 가능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</p:txBody>
      </p:sp>
      <p:sp>
        <p:nvSpPr>
          <p:cNvPr id="1947534122" name="TextBox 34"/>
          <p:cNvSpPr txBox="1"/>
          <p:nvPr/>
        </p:nvSpPr>
        <p:spPr bwMode="auto">
          <a:xfrm flipH="0" flipV="0">
            <a:off x="2533782" y="35717347"/>
            <a:ext cx="12613484" cy="471721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현재 기여도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- 1,500줄의 완전한 x86 하이퍼바이저 구현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실제 운영체제(1K OS) 실행 가능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오픈소스로 공개 (GitHub)</a:t>
            </a:r>
            <a:endParaRPr/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향후 확장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- 64-bit Long Mode 지원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Linux 게스트 부팅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추가 I/O 에뮬레이션</a:t>
            </a:r>
            <a:endParaRPr lang="ko-KR" sz="380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</a:endParaRPr>
          </a:p>
        </p:txBody>
      </p:sp>
      <p:grpSp>
        <p:nvGrpSpPr>
          <p:cNvPr id="1579466585" name="그룹 35"/>
          <p:cNvGrpSpPr/>
          <p:nvPr/>
        </p:nvGrpSpPr>
        <p:grpSpPr bwMode="auto">
          <a:xfrm>
            <a:off x="2526584" y="7246021"/>
            <a:ext cx="7786486" cy="1008000"/>
            <a:chOff x="2526584" y="7246021"/>
            <a:chExt cx="7786486" cy="1008000"/>
          </a:xfrm>
        </p:grpSpPr>
        <p:sp>
          <p:nvSpPr>
            <p:cNvPr id="6" name="사각형: 둥근 모서리 5"/>
            <p:cNvSpPr/>
            <p:nvPr/>
          </p:nvSpPr>
          <p:spPr bwMode="auto">
            <a:xfrm>
              <a:off x="2526584" y="7246021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pic>
          <p:nvPicPr>
            <p:cNvPr id="9" name="그래픽 8"/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 bwMode="auto">
            <a:xfrm>
              <a:off x="2781258" y="7390021"/>
              <a:ext cx="720000" cy="72000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 bwMode="auto">
            <a:xfrm>
              <a:off x="3688334" y="7379409"/>
              <a:ext cx="4487126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개발동기 및 목적</a:t>
              </a:r>
              <a:endParaRPr/>
            </a:p>
          </p:txBody>
        </p:sp>
      </p:grpSp>
      <p:grpSp>
        <p:nvGrpSpPr>
          <p:cNvPr id="377724722" name="그룹 62"/>
          <p:cNvGrpSpPr/>
          <p:nvPr/>
        </p:nvGrpSpPr>
        <p:grpSpPr bwMode="auto">
          <a:xfrm>
            <a:off x="2623279" y="18782972"/>
            <a:ext cx="7786486" cy="1008000"/>
            <a:chOff x="2526584" y="20465889"/>
            <a:chExt cx="7786486" cy="1008000"/>
          </a:xfrm>
        </p:grpSpPr>
        <p:sp>
          <p:nvSpPr>
            <p:cNvPr id="42" name="사각형: 둥근 모서리 41"/>
            <p:cNvSpPr/>
            <p:nvPr/>
          </p:nvSpPr>
          <p:spPr bwMode="auto">
            <a:xfrm>
              <a:off x="2526584" y="20465889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sp>
          <p:nvSpPr>
            <p:cNvPr id="44" name="TextBox 43"/>
            <p:cNvSpPr txBox="1"/>
            <p:nvPr/>
          </p:nvSpPr>
          <p:spPr bwMode="auto">
            <a:xfrm>
              <a:off x="3688334" y="20609889"/>
              <a:ext cx="2454518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개발내용</a:t>
              </a:r>
              <a:endParaRPr/>
            </a:p>
          </p:txBody>
        </p:sp>
        <p:pic>
          <p:nvPicPr>
            <p:cNvPr id="10" name="그래픽 9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 bwMode="auto">
            <a:xfrm>
              <a:off x="2881902" y="20609889"/>
              <a:ext cx="619355" cy="720000"/>
            </a:xfrm>
            <a:prstGeom prst="rect">
              <a:avLst/>
            </a:prstGeom>
          </p:spPr>
        </p:pic>
      </p:grpSp>
      <p:grpSp>
        <p:nvGrpSpPr>
          <p:cNvPr id="1491782049" name="그룹 63"/>
          <p:cNvGrpSpPr/>
          <p:nvPr/>
        </p:nvGrpSpPr>
        <p:grpSpPr bwMode="auto">
          <a:xfrm>
            <a:off x="15702179" y="21636722"/>
            <a:ext cx="7786485" cy="1008000"/>
            <a:chOff x="0" y="0"/>
            <a:chExt cx="7786485" cy="1008000"/>
          </a:xfrm>
        </p:grpSpPr>
        <p:sp>
          <p:nvSpPr>
            <p:cNvPr id="47" name="사각형: 둥근 모서리 46"/>
            <p:cNvSpPr/>
            <p:nvPr/>
          </p:nvSpPr>
          <p:spPr bwMode="auto">
            <a:xfrm>
              <a:off x="0" y="0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sp>
          <p:nvSpPr>
            <p:cNvPr id="49" name="TextBox 48"/>
            <p:cNvSpPr txBox="1"/>
            <p:nvPr/>
          </p:nvSpPr>
          <p:spPr bwMode="auto">
            <a:xfrm>
              <a:off x="1161749" y="133387"/>
              <a:ext cx="3352199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결과 및 분석</a:t>
              </a:r>
              <a:endParaRPr/>
            </a:p>
          </p:txBody>
        </p:sp>
        <p:pic>
          <p:nvPicPr>
            <p:cNvPr id="28" name="그래픽 27"/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 bwMode="auto">
            <a:xfrm>
              <a:off x="267393" y="144000"/>
              <a:ext cx="636923" cy="720000"/>
            </a:xfrm>
            <a:prstGeom prst="rect">
              <a:avLst/>
            </a:prstGeom>
          </p:spPr>
        </p:pic>
      </p:grpSp>
      <p:grpSp>
        <p:nvGrpSpPr>
          <p:cNvPr id="901090761" name="그룹 36"/>
          <p:cNvGrpSpPr/>
          <p:nvPr/>
        </p:nvGrpSpPr>
        <p:grpSpPr bwMode="auto">
          <a:xfrm>
            <a:off x="15911730" y="7246021"/>
            <a:ext cx="7786486" cy="1008000"/>
            <a:chOff x="15911730" y="7246021"/>
            <a:chExt cx="7786486" cy="1008000"/>
          </a:xfrm>
        </p:grpSpPr>
        <p:sp>
          <p:nvSpPr>
            <p:cNvPr id="54" name="사각형: 둥근 모서리 53"/>
            <p:cNvSpPr/>
            <p:nvPr/>
          </p:nvSpPr>
          <p:spPr bwMode="auto">
            <a:xfrm>
              <a:off x="15911730" y="7246021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sp>
          <p:nvSpPr>
            <p:cNvPr id="56" name="TextBox 55"/>
            <p:cNvSpPr txBox="1"/>
            <p:nvPr/>
          </p:nvSpPr>
          <p:spPr bwMode="auto">
            <a:xfrm>
              <a:off x="17073480" y="7379409"/>
              <a:ext cx="2454518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주요기술</a:t>
              </a:r>
              <a:endParaRPr/>
            </a:p>
          </p:txBody>
        </p:sp>
        <p:pic>
          <p:nvPicPr>
            <p:cNvPr id="29" name="그래픽 28"/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 bwMode="auto">
            <a:xfrm>
              <a:off x="16286607" y="7372021"/>
              <a:ext cx="475423" cy="756000"/>
            </a:xfrm>
            <a:prstGeom prst="rect">
              <a:avLst/>
            </a:prstGeom>
          </p:spPr>
        </p:pic>
      </p:grpSp>
      <p:grpSp>
        <p:nvGrpSpPr>
          <p:cNvPr id="1097689186" name="그룹 64"/>
          <p:cNvGrpSpPr/>
          <p:nvPr/>
        </p:nvGrpSpPr>
        <p:grpSpPr bwMode="auto">
          <a:xfrm>
            <a:off x="2473666" y="34281315"/>
            <a:ext cx="7786485" cy="1008000"/>
            <a:chOff x="0" y="0"/>
            <a:chExt cx="7786485" cy="1008000"/>
          </a:xfrm>
        </p:grpSpPr>
        <p:sp>
          <p:nvSpPr>
            <p:cNvPr id="57" name="사각형: 둥근 모서리 56"/>
            <p:cNvSpPr/>
            <p:nvPr/>
          </p:nvSpPr>
          <p:spPr bwMode="auto">
            <a:xfrm>
              <a:off x="0" y="0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sp>
          <p:nvSpPr>
            <p:cNvPr id="58" name="TextBox 57"/>
            <p:cNvSpPr txBox="1"/>
            <p:nvPr/>
          </p:nvSpPr>
          <p:spPr bwMode="auto">
            <a:xfrm>
              <a:off x="1161749" y="133387"/>
              <a:ext cx="5622052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활용방안 및 기대효과</a:t>
              </a:r>
              <a:endParaRPr/>
            </a:p>
          </p:txBody>
        </p:sp>
        <p:pic>
          <p:nvPicPr>
            <p:cNvPr id="30" name="그래픽 29"/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 bwMode="auto">
            <a:xfrm>
              <a:off x="246358" y="144000"/>
              <a:ext cx="720000" cy="720000"/>
            </a:xfrm>
            <a:prstGeom prst="rect">
              <a:avLst/>
            </a:prstGeom>
          </p:spPr>
        </p:pic>
      </p:grpSp>
      <p:grpSp>
        <p:nvGrpSpPr>
          <p:cNvPr id="2106789780" name="그룹 65"/>
          <p:cNvGrpSpPr/>
          <p:nvPr/>
        </p:nvGrpSpPr>
        <p:grpSpPr bwMode="auto">
          <a:xfrm>
            <a:off x="15911730" y="37873300"/>
            <a:ext cx="7786486" cy="1008000"/>
            <a:chOff x="2526584" y="37688108"/>
            <a:chExt cx="7786486" cy="1008000"/>
          </a:xfrm>
        </p:grpSpPr>
        <p:sp>
          <p:nvSpPr>
            <p:cNvPr id="60" name="사각형: 둥근 모서리 59"/>
            <p:cNvSpPr/>
            <p:nvPr/>
          </p:nvSpPr>
          <p:spPr bwMode="auto">
            <a:xfrm>
              <a:off x="2526584" y="37688108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/>
            </a:p>
          </p:txBody>
        </p:sp>
        <p:sp>
          <p:nvSpPr>
            <p:cNvPr id="61" name="TextBox 60"/>
            <p:cNvSpPr txBox="1"/>
            <p:nvPr/>
          </p:nvSpPr>
          <p:spPr bwMode="auto">
            <a:xfrm>
              <a:off x="3688334" y="37802611"/>
              <a:ext cx="3995004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defRPr/>
              </a:pPr>
              <a:r>
                <a:rPr lang="ko-KR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오픈소스 </a:t>
              </a:r>
              <a:r>
                <a:rPr lang="en-US" sz="4600">
                  <a:solidFill>
                    <a:schemeClr val="bg1"/>
                  </a:solidFill>
                  <a:latin typeface="G마켓 산스 TTF Bold"/>
                  <a:ea typeface="G마켓 산스 TTF Bold"/>
                </a:rPr>
                <a:t>URL</a:t>
              </a:r>
              <a:endParaRPr lang="ko-KR" sz="4600">
                <a:solidFill>
                  <a:schemeClr val="bg1"/>
                </a:solidFill>
                <a:latin typeface="G마켓 산스 TTF Bold"/>
                <a:ea typeface="G마켓 산스 TTF Bold"/>
              </a:endParaRPr>
            </a:p>
          </p:txBody>
        </p:sp>
        <p:pic>
          <p:nvPicPr>
            <p:cNvPr id="31" name="그래픽 30"/>
            <p:cNvPicPr>
              <a:picLocks noChangeAspect="1"/>
            </p:cNvPicPr>
            <p:nvPr/>
          </p:nvPicPr>
          <p:blipFill rotWithShape="1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 bwMode="auto">
            <a:xfrm>
              <a:off x="2884831" y="37870771"/>
              <a:ext cx="659488" cy="659489"/>
            </a:xfrm>
            <a:prstGeom prst="rect">
              <a:avLst/>
            </a:prstGeom>
          </p:spPr>
        </p:pic>
      </p:grpSp>
      <p:sp>
        <p:nvSpPr>
          <p:cNvPr id="720463484" name="모서리가 둥근 직사각형 22"/>
          <p:cNvSpPr/>
          <p:nvPr/>
        </p:nvSpPr>
        <p:spPr bwMode="auto">
          <a:xfrm>
            <a:off x="1930488" y="5109899"/>
            <a:ext cx="2096219" cy="72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defRPr/>
            </a:pPr>
            <a:r>
              <a:rPr lang="ko-KR" sz="3600" b="1">
                <a:solidFill>
                  <a:srgbClr val="F25920"/>
                </a:solidFill>
                <a:latin typeface="G마켓 산스 TTF Medium"/>
                <a:ea typeface="G마켓 산스 TTF Medium"/>
              </a:rPr>
              <a:t>이</a:t>
            </a:r>
            <a:r>
              <a:rPr lang="en-US" sz="3600" b="1">
                <a:solidFill>
                  <a:srgbClr val="F25920"/>
                </a:solidFill>
                <a:latin typeface="G마켓 산스 TTF Medium"/>
                <a:ea typeface="G마켓 산스 TTF Medium"/>
              </a:rPr>
              <a:t>    름</a:t>
            </a:r>
            <a:endParaRPr/>
          </a:p>
        </p:txBody>
      </p:sp>
      <p:sp>
        <p:nvSpPr>
          <p:cNvPr id="972800131" name="모서리가 둥근 직사각형 22"/>
          <p:cNvSpPr/>
          <p:nvPr/>
        </p:nvSpPr>
        <p:spPr bwMode="auto">
          <a:xfrm>
            <a:off x="9432366" y="5109899"/>
            <a:ext cx="2096219" cy="72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defRPr/>
            </a:pPr>
            <a:r>
              <a:rPr lang="ko-KR" sz="3600" b="1">
                <a:solidFill>
                  <a:srgbClr val="F25920"/>
                </a:solidFill>
                <a:latin typeface="G마켓 산스 TTF Medium"/>
                <a:ea typeface="G마켓 산스 TTF Medium"/>
              </a:rPr>
              <a:t>지도교수</a:t>
            </a:r>
            <a:endParaRPr/>
          </a:p>
        </p:txBody>
      </p:sp>
      <p:sp>
        <p:nvSpPr>
          <p:cNvPr id="1335312061" name="TextBox 66"/>
          <p:cNvSpPr txBox="1"/>
          <p:nvPr/>
        </p:nvSpPr>
        <p:spPr bwMode="auto">
          <a:xfrm>
            <a:off x="4265736" y="5197249"/>
            <a:ext cx="1466794" cy="60995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defRPr/>
            </a:pPr>
            <a:r>
              <a:rPr lang="ko-KR" sz="4000" b="1">
                <a:solidFill>
                  <a:schemeClr val="bg1"/>
                </a:solidFill>
                <a:latin typeface="G마켓 산스 TTF Medium"/>
                <a:ea typeface="G마켓 산스 TTF Medium"/>
              </a:rPr>
              <a:t>설규원</a:t>
            </a:r>
            <a:endParaRPr lang="ko-KR" sz="4000" b="1">
              <a:solidFill>
                <a:schemeClr val="bg1"/>
              </a:solidFill>
              <a:latin typeface="G마켓 산스 TTF Medium"/>
              <a:ea typeface="G마켓 산스 TTF Medium"/>
            </a:endParaRPr>
          </a:p>
        </p:txBody>
      </p:sp>
      <p:sp>
        <p:nvSpPr>
          <p:cNvPr id="372894626" name="TextBox 67"/>
          <p:cNvSpPr txBox="1"/>
          <p:nvPr/>
        </p:nvSpPr>
        <p:spPr bwMode="auto">
          <a:xfrm>
            <a:off x="11794554" y="5202829"/>
            <a:ext cx="3075109" cy="60995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defRPr/>
            </a:pPr>
            <a:r>
              <a:rPr lang="ko-KR" sz="4000" b="1">
                <a:solidFill>
                  <a:schemeClr val="bg1"/>
                </a:solidFill>
                <a:latin typeface="G마켓 산스 TTF Medium"/>
                <a:ea typeface="G마켓 산스 TTF Medium"/>
              </a:rPr>
              <a:t>김상훈</a:t>
            </a:r>
            <a:r>
              <a:rPr lang="en-US" sz="4000" b="1">
                <a:solidFill>
                  <a:schemeClr val="bg1"/>
                </a:solidFill>
                <a:latin typeface="G마켓 산스 TTF Medium"/>
                <a:ea typeface="G마켓 산스 TTF Medium"/>
              </a:rPr>
              <a:t> 교수님</a:t>
            </a:r>
            <a:endParaRPr lang="ko-KR" sz="4000" b="1">
              <a:solidFill>
                <a:schemeClr val="bg1"/>
              </a:solidFill>
              <a:latin typeface="G마켓 산스 TTF Medium"/>
              <a:ea typeface="G마켓 산스 TTF Medium"/>
            </a:endParaRPr>
          </a:p>
        </p:txBody>
      </p:sp>
      <p:pic>
        <p:nvPicPr>
          <p:cNvPr id="1075084635" name="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flipH="0" flipV="0">
            <a:off x="2171545" y="20060704"/>
            <a:ext cx="8948025" cy="2323044"/>
          </a:xfrm>
          <a:prstGeom prst="rect">
            <a:avLst/>
          </a:prstGeom>
        </p:spPr>
      </p:pic>
      <p:sp>
        <p:nvSpPr>
          <p:cNvPr id="95917702" name="TextBox 52"/>
          <p:cNvSpPr txBox="1"/>
          <p:nvPr/>
        </p:nvSpPr>
        <p:spPr bwMode="auto">
          <a:xfrm flipH="0" flipV="0">
            <a:off x="2436172" y="30931044"/>
            <a:ext cx="13332568" cy="297985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1K OS - 완전한 운영체제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- 12KB 바이너리에 9개 대화형 프로그램 포함 (구구단, 계산기, 소수 계산 등)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사용자 입출력 처리, 메모리 관리, 스택 기반 연산 시스템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Protected Mode 페이징 지원으로 32-bit 주소공간 활용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</p:txBody>
      </p:sp>
      <p:pic>
        <p:nvPicPr>
          <p:cNvPr id="1331736824" name="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 flipH="0" flipV="0">
            <a:off x="2436172" y="25633474"/>
            <a:ext cx="4028565" cy="4662569"/>
          </a:xfrm>
          <a:prstGeom prst="rect">
            <a:avLst/>
          </a:prstGeom>
        </p:spPr>
      </p:pic>
      <p:pic>
        <p:nvPicPr>
          <p:cNvPr id="647776043" name=""/>
          <p:cNvPicPr>
            <a:picLocks noChangeAspect="1"/>
          </p:cNvPicPr>
          <p:nvPr/>
        </p:nvPicPr>
        <p:blipFill rotWithShape="1">
          <a:blip r:embed="rId17"/>
          <a:srcRect l="0" t="0" r="29819" b="0"/>
          <a:stretch/>
        </p:blipFill>
        <p:spPr bwMode="auto">
          <a:xfrm flipH="0" flipV="0">
            <a:off x="6555147" y="25975882"/>
            <a:ext cx="6457950" cy="3977754"/>
          </a:xfrm>
          <a:prstGeom prst="rect">
            <a:avLst/>
          </a:prstGeom>
        </p:spPr>
      </p:pic>
      <p:pic>
        <p:nvPicPr>
          <p:cNvPr id="360885905" name="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>
            <a:off x="25218725" y="37618398"/>
            <a:ext cx="2466973" cy="2466973"/>
          </a:xfrm>
          <a:prstGeom prst="rect">
            <a:avLst/>
          </a:prstGeom>
        </p:spPr>
      </p:pic>
      <p:pic>
        <p:nvPicPr>
          <p:cNvPr id="2015036596" name="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 rot="0" flipH="0" flipV="0">
            <a:off x="23108288" y="22233692"/>
            <a:ext cx="4998482" cy="4253231"/>
          </a:xfrm>
          <a:prstGeom prst="rect">
            <a:avLst/>
          </a:prstGeom>
        </p:spPr>
      </p:pic>
      <p:pic>
        <p:nvPicPr>
          <p:cNvPr id="151987469" name=""/>
          <p:cNvPicPr>
            <a:picLocks noChangeAspect="1"/>
          </p:cNvPicPr>
          <p:nvPr/>
        </p:nvPicPr>
        <p:blipFill rotWithShape="1">
          <a:blip r:embed="rId20"/>
          <a:stretch/>
        </p:blipFill>
        <p:spPr bwMode="auto">
          <a:xfrm flipH="0" flipV="0">
            <a:off x="15857712" y="22968477"/>
            <a:ext cx="7250575" cy="3255008"/>
          </a:xfrm>
          <a:prstGeom prst="rect">
            <a:avLst/>
          </a:prstGeom>
        </p:spPr>
      </p:pic>
      <p:pic>
        <p:nvPicPr>
          <p:cNvPr id="1109334061" name=""/>
          <p:cNvPicPr>
            <a:picLocks noChangeAspect="1"/>
          </p:cNvPicPr>
          <p:nvPr/>
        </p:nvPicPr>
        <p:blipFill rotWithShape="1">
          <a:blip r:embed="rId21"/>
          <a:stretch/>
        </p:blipFill>
        <p:spPr bwMode="auto">
          <a:xfrm flipH="0" flipV="0">
            <a:off x="15800562" y="9383328"/>
            <a:ext cx="5839264" cy="7043051"/>
          </a:xfrm>
          <a:prstGeom prst="rect">
            <a:avLst/>
          </a:prstGeom>
        </p:spPr>
      </p:pic>
      <p:sp>
        <p:nvSpPr>
          <p:cNvPr id="758745401" name="TextBox 4"/>
          <p:cNvSpPr txBox="1"/>
          <p:nvPr/>
        </p:nvSpPr>
        <p:spPr bwMode="auto">
          <a:xfrm flipH="0" flipV="0">
            <a:off x="15857712" y="16426380"/>
            <a:ext cx="12287133" cy="4717213"/>
          </a:xfrm>
          <a:prstGeom prst="rect">
            <a:avLst/>
          </a:prstGeom>
          <a:noFill/>
        </p:spPr>
        <p:txBody>
          <a:bodyPr wrap="square" lIns="83892" tIns="41946" rIns="83892" bIns="41946" rtlCol="0">
            <a:spAutoFit/>
          </a:bodyPr>
          <a:lstStyle/>
          <a:p>
            <a:pPr>
              <a:defRPr/>
            </a:pPr>
            <a:endParaRPr sz="3800" b="1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3. 조건부 IRQCHIP 최적화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Real Mode: IRQCHIP 비활성화 → 10배 성능 향상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Protected Mode: 전체 인터럽트 지원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4. 하이퍼콜 인터페이스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PUTCHAR, GETCHAR, EXIT 시스템 콜</a:t>
            </a:r>
            <a:endParaRPr lang="ko-KR" sz="3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cs typeface="G마켓 산스 TTF Medium"/>
            </a:endParaRPr>
          </a:p>
          <a:p>
            <a:pPr>
              <a:defRPr/>
            </a:pPr>
            <a:r>
              <a:rPr lang="ko-KR" sz="3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  <a:cs typeface="G마켓 산스 TTF Medium"/>
              </a:rPr>
              <a:t>- 포트 0x500을 통한 효율적인 게스트-호스트 통신</a:t>
            </a:r>
            <a:endParaRPr lang="ko-KR" sz="3800">
              <a:solidFill>
                <a:schemeClr val="tx1">
                  <a:lumMod val="75000"/>
                  <a:lumOff val="25000"/>
                </a:schemeClr>
              </a:solidFill>
              <a:latin typeface="G마켓 산스 TTF Medium"/>
              <a:ea typeface="G마켓 산스 TTF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ONLYOFFICE/9.1.0.173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/>
  <cp:revision>165</cp:revision>
  <dcterms:created xsi:type="dcterms:W3CDTF">2019-05-23T04:55:04Z</dcterms:created>
  <dcterms:modified xsi:type="dcterms:W3CDTF">2025-11-23T14:58:36Z</dcterms:modified>
</cp:coreProperties>
</file>